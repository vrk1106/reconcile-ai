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8"/>
    <p:sldId id="259" r:id="rId9"/>
  </p:sldIdLst>
  <p:sldSz cy="10287000" cx="18288000"/>
  <p:notesSz cx="6858000" cy="9144000"/>
  <p:embeddedFontLst>
    <p:embeddedFont>
      <p:font typeface="Playfair Display SemiBold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Rct6WhpjnLYkE824ii1GYaFHa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font" Target="fonts/PlayfairDisplay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SemiBold-italic.fntdata"/><Relationship Id="rId14" Type="http://schemas.openxmlformats.org/officeDocument/2006/relationships/font" Target="fonts/PlayfairDisplaySemiBold-bold.fntdata"/><Relationship Id="rId17" Type="http://customschemas.google.com/relationships/presentationmetadata" Target="metadata"/><Relationship Id="rId16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1028700" y="838200"/>
            <a:ext cx="7685837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</p:txBody>
      </p:sp>
      <p:sp>
        <p:nvSpPr>
          <p:cNvPr id="201" name="Pitch card"/>
          <p:cNvSpPr/>
          <p:nvPr/>
        </p:nvSpPr>
        <p:spPr>
          <a:xfrm>
            <a:off x="1028700" y="2950000"/>
            <a:ext cx="7650000" cy="335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02" name="Pitch label"/>
          <p:cNvSpPr txBox="1"/>
          <p:nvPr/>
        </p:nvSpPr>
        <p:spPr>
          <a:xfrm>
            <a:off x="1408700" y="3250000"/>
            <a:ext cx="689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B8A8F"/>
                </a:solidFill>
                <a:latin typeface="Arial"/>
                <a:ea typeface="Arial"/>
                <a:cs typeface="Arial"/>
                <a:sym typeface="Arial"/>
              </a:rPr>
              <a:t>THE SOLUTION IN ONE LINE</a:t>
            </a:r>
          </a:p>
        </p:txBody>
      </p:sp>
      <p:sp>
        <p:nvSpPr>
          <p:cNvPr id="203" name="Pitch text"/>
          <p:cNvSpPr txBox="1"/>
          <p:nvPr/>
        </p:nvSpPr>
        <p:spPr>
          <a:xfrm>
            <a:off x="1408700" y="3750000"/>
            <a:ext cx="689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1" dirty="0">
                <a:solidFill>
                  <a:srgbClr val="12354A"/>
                </a:solidFill>
                <a:latin typeface="Times"/>
                <a:ea typeface="Times"/>
                <a:cs typeface="Times"/>
                <a:sym typeface="Times"/>
              </a:rPr>
              <a:t>“An AI agent that reconciles supplier invoices against bank payments on its own, resolves the ambiguous cases rules cannot, and brings a human in only when it is not sure.”</a:t>
            </a:r>
          </a:p>
        </p:txBody>
      </p:sp>
      <p:sp>
        <p:nvSpPr>
          <p:cNvPr id="204" name="Rules fail card"/>
          <p:cNvSpPr/>
          <p:nvPr/>
        </p:nvSpPr>
        <p:spPr>
          <a:xfrm>
            <a:off x="1028700" y="6600000"/>
            <a:ext cx="7650000" cy="315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05" name="Rules fail head"/>
          <p:cNvSpPr txBox="1"/>
          <p:nvPr/>
        </p:nvSpPr>
        <p:spPr>
          <a:xfrm>
            <a:off x="1408700" y="6850000"/>
            <a:ext cx="689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Why simple rules fail</a:t>
            </a:r>
          </a:p>
        </p:txBody>
      </p:sp>
      <p:sp>
        <p:nvSpPr>
          <p:cNvPr id="206" name="Rules fail body"/>
          <p:cNvSpPr txBox="1"/>
          <p:nvPr/>
        </p:nvSpPr>
        <p:spPr>
          <a:xfrm>
            <a:off x="1408700" y="7450000"/>
            <a:ext cx="6890000" cy="2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Bank narration: </a:t>
            </a: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“SHARMA TRDRS 47,200”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Invoice supplier: </a:t>
            </a: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Sharma Traders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The agent tries name variants and tests split payments: 47,200 covers INV-1042 (28,000) and INV-1043 (19,200).</a:t>
            </a:r>
          </a:p>
        </p:txBody>
      </p:sp>
      <p:sp>
        <p:nvSpPr>
          <p:cNvPr id="207" name="How it works card"/>
          <p:cNvSpPr/>
          <p:nvPr/>
        </p:nvSpPr>
        <p:spPr>
          <a:xfrm>
            <a:off x="9078700" y="2950000"/>
            <a:ext cx="8180600" cy="68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08" name="How head"/>
          <p:cNvSpPr txBox="1"/>
          <p:nvPr/>
        </p:nvSpPr>
        <p:spPr>
          <a:xfrm>
            <a:off x="9478700" y="3200000"/>
            <a:ext cx="73806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How it works</a:t>
            </a:r>
          </a:p>
        </p:txBody>
      </p:sp>
      <p:sp>
        <p:nvSpPr>
          <p:cNvPr id="209" name="Step 1"/>
          <p:cNvSpPr/>
          <p:nvPr/>
        </p:nvSpPr>
        <p:spPr>
          <a:xfrm>
            <a:off x="9478700" y="3930000"/>
            <a:ext cx="720000" cy="72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10" name="Step 1 text"/>
          <p:cNvSpPr txBox="1"/>
          <p:nvPr/>
        </p:nvSpPr>
        <p:spPr>
          <a:xfrm>
            <a:off x="10478700" y="3900000"/>
            <a:ext cx="63806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6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Intake and extract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Invoice arrives by email or Telegram; an LLM extracts the fields into a fixed schema.</a:t>
            </a:r>
          </a:p>
        </p:txBody>
      </p:sp>
      <p:sp>
        <p:nvSpPr>
          <p:cNvPr id="211" name="Step 2"/>
          <p:cNvSpPr/>
          <p:nvPr/>
        </p:nvSpPr>
        <p:spPr>
          <a:xfrm>
            <a:off x="9478700" y="5380000"/>
            <a:ext cx="720000" cy="72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12" name="Step 2 text"/>
          <p:cNvSpPr txBox="1"/>
          <p:nvPr/>
        </p:nvSpPr>
        <p:spPr>
          <a:xfrm>
            <a:off x="10478700" y="5350000"/>
            <a:ext cx="63806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6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Rules check GSTIN format, tax arithmetic and exact duplicates. No AI involved.</a:t>
            </a:r>
          </a:p>
        </p:txBody>
      </p:sp>
      <p:sp>
        <p:nvSpPr>
          <p:cNvPr id="213" name="Step 3"/>
          <p:cNvSpPr/>
          <p:nvPr/>
        </p:nvSpPr>
        <p:spPr>
          <a:xfrm>
            <a:off x="9478700" y="6830000"/>
            <a:ext cx="720000" cy="72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14" name="Step 3 text"/>
          <p:cNvSpPr txBox="1"/>
          <p:nvPr/>
        </p:nvSpPr>
        <p:spPr>
          <a:xfrm>
            <a:off x="10478700" y="6800000"/>
            <a:ext cx="63806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6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Reconcile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The agent searches bank rows, supplier history and open invoices, then decides.</a:t>
            </a:r>
          </a:p>
        </p:txBody>
      </p:sp>
      <p:sp>
        <p:nvSpPr>
          <p:cNvPr id="215" name="Step 4"/>
          <p:cNvSpPr/>
          <p:nvPr/>
        </p:nvSpPr>
        <p:spPr>
          <a:xfrm>
            <a:off x="9478700" y="8280000"/>
            <a:ext cx="720000" cy="72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16" name="Step 4 text"/>
          <p:cNvSpPr txBox="1"/>
          <p:nvPr/>
        </p:nvSpPr>
        <p:spPr>
          <a:xfrm>
            <a:off x="10478700" y="8250000"/>
            <a:ext cx="63806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6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Route by confidence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High: auto-resolve and log. Medium: one-tap approval on Telegram. Low: escalate with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3"/>
          <p:cNvSpPr txBox="1"/>
          <p:nvPr/>
        </p:nvSpPr>
        <p:spPr>
          <a:xfrm>
            <a:off x="1028700" y="838200"/>
            <a:ext cx="1623060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Tech Stack &amp; Architecture</a:t>
            </a:r>
            <a:endParaRPr/>
          </a:p>
        </p:txBody>
      </p:sp>
      <p:sp>
        <p:nvSpPr>
          <p:cNvPr id="217" name="Layer 1 card"/>
          <p:cNvSpPr/>
          <p:nvPr/>
        </p:nvSpPr>
        <p:spPr>
          <a:xfrm>
            <a:off x="1028700" y="2950000"/>
            <a:ext cx="4876866" cy="285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18" name="Layer 1 label"/>
          <p:cNvSpPr txBox="1"/>
          <p:nvPr/>
        </p:nvSpPr>
        <p:spPr>
          <a:xfrm>
            <a:off x="1378700" y="3230000"/>
            <a:ext cx="4176866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B8A8F"/>
                </a:solidFill>
                <a:latin typeface="Arial"/>
                <a:ea typeface="Arial"/>
                <a:cs typeface="Arial"/>
                <a:sym typeface="Arial"/>
              </a:rPr>
              <a:t>LAYER 1</a:t>
            </a:r>
          </a:p>
        </p:txBody>
      </p:sp>
      <p:sp>
        <p:nvSpPr>
          <p:cNvPr id="219" name="Layer 1 head"/>
          <p:cNvSpPr txBox="1"/>
          <p:nvPr/>
        </p:nvSpPr>
        <p:spPr>
          <a:xfrm>
            <a:off x="1378700" y="3670000"/>
            <a:ext cx="4176866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2354A"/>
                </a:solidFill>
                <a:latin typeface="Times"/>
                <a:ea typeface="Times"/>
                <a:cs typeface="Times"/>
                <a:sym typeface="Times"/>
              </a:rPr>
              <a:t>Intake and extraction</a:t>
            </a:r>
          </a:p>
        </p:txBody>
      </p:sp>
      <p:sp>
        <p:nvSpPr>
          <p:cNvPr id="220" name="Layer 1 body"/>
          <p:cNvSpPr txBox="1"/>
          <p:nvPr/>
        </p:nvSpPr>
        <p:spPr>
          <a:xfrm>
            <a:off x="1378700" y="4350000"/>
            <a:ext cx="4176866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Email and Telegram triggers. An LLM extracts invoice fields into a fixed JSON schema.</a:t>
            </a:r>
          </a:p>
        </p:txBody>
      </p:sp>
      <p:sp>
        <p:nvSpPr>
          <p:cNvPr id="221" name="Arrow 1"/>
          <p:cNvSpPr/>
          <p:nvPr/>
        </p:nvSpPr>
        <p:spPr>
          <a:xfrm>
            <a:off x="6055566" y="4125000"/>
            <a:ext cx="500000" cy="500000"/>
          </a:xfrm>
          <a:prstGeom prst="rightArrow">
            <a:avLst/>
          </a:prstGeom>
          <a:solidFill>
            <a:srgbClr val="0B8A8F"/>
          </a:solidFill>
          <a:ln>
            <a:noFill/>
          </a:ln>
        </p:spPr>
      </p:sp>
      <p:sp>
        <p:nvSpPr>
          <p:cNvPr id="222" name="Layer 2 card"/>
          <p:cNvSpPr/>
          <p:nvPr/>
        </p:nvSpPr>
        <p:spPr>
          <a:xfrm>
            <a:off x="6705566" y="2950000"/>
            <a:ext cx="4876866" cy="285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23" name="Layer 2 label"/>
          <p:cNvSpPr txBox="1"/>
          <p:nvPr/>
        </p:nvSpPr>
        <p:spPr>
          <a:xfrm>
            <a:off x="7055566" y="3230000"/>
            <a:ext cx="4176866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B8A8F"/>
                </a:solidFill>
                <a:latin typeface="Arial"/>
                <a:ea typeface="Arial"/>
                <a:cs typeface="Arial"/>
                <a:sym typeface="Arial"/>
              </a:rPr>
              <a:t>LAYER 2</a:t>
            </a:r>
          </a:p>
        </p:txBody>
      </p:sp>
      <p:sp>
        <p:nvSpPr>
          <p:cNvPr id="224" name="Layer 2 head"/>
          <p:cNvSpPr txBox="1"/>
          <p:nvPr/>
        </p:nvSpPr>
        <p:spPr>
          <a:xfrm>
            <a:off x="7055566" y="3670000"/>
            <a:ext cx="4176866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2354A"/>
                </a:solidFill>
                <a:latin typeface="Times"/>
                <a:ea typeface="Times"/>
                <a:cs typeface="Times"/>
                <a:sym typeface="Times"/>
              </a:rPr>
              <a:t>Guardrails</a:t>
            </a:r>
          </a:p>
        </p:txBody>
      </p:sp>
      <p:sp>
        <p:nvSpPr>
          <p:cNvPr id="225" name="Layer 2 body"/>
          <p:cNvSpPr txBox="1"/>
          <p:nvPr/>
        </p:nvSpPr>
        <p:spPr>
          <a:xfrm>
            <a:off x="7055566" y="4350000"/>
            <a:ext cx="4176866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Rules, no AI: GSTIN format, tax arithmetic and exact-duplicate checks.</a:t>
            </a:r>
          </a:p>
        </p:txBody>
      </p:sp>
      <p:sp>
        <p:nvSpPr>
          <p:cNvPr id="226" name="Arrow 2"/>
          <p:cNvSpPr/>
          <p:nvPr/>
        </p:nvSpPr>
        <p:spPr>
          <a:xfrm>
            <a:off x="11732432" y="4125000"/>
            <a:ext cx="500000" cy="500000"/>
          </a:xfrm>
          <a:prstGeom prst="rightArrow">
            <a:avLst/>
          </a:prstGeom>
          <a:solidFill>
            <a:srgbClr val="0B8A8F"/>
          </a:solidFill>
          <a:ln>
            <a:noFill/>
          </a:ln>
        </p:spPr>
      </p:sp>
      <p:sp>
        <p:nvSpPr>
          <p:cNvPr id="227" name="Layer 3 card"/>
          <p:cNvSpPr/>
          <p:nvPr/>
        </p:nvSpPr>
        <p:spPr>
          <a:xfrm>
            <a:off x="12382432" y="2950000"/>
            <a:ext cx="4876866" cy="2850000"/>
          </a:xfrm>
          <a:prstGeom prst="roundRect">
            <a:avLst>
              <a:gd name="adj" fmla="val 7000"/>
            </a:avLst>
          </a:prstGeom>
          <a:solidFill>
            <a:srgbClr val="0B8A8F"/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28" name="Layer 3 label"/>
          <p:cNvSpPr txBox="1"/>
          <p:nvPr/>
        </p:nvSpPr>
        <p:spPr>
          <a:xfrm>
            <a:off x="12732432" y="3230000"/>
            <a:ext cx="4176866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BFF3F5"/>
                </a:solidFill>
                <a:latin typeface="Arial"/>
                <a:ea typeface="Arial"/>
                <a:cs typeface="Arial"/>
                <a:sym typeface="Arial"/>
              </a:rPr>
              <a:t>LAYER 3</a:t>
            </a:r>
          </a:p>
        </p:txBody>
      </p:sp>
      <p:sp>
        <p:nvSpPr>
          <p:cNvPr id="229" name="Layer 3 head"/>
          <p:cNvSpPr txBox="1"/>
          <p:nvPr/>
        </p:nvSpPr>
        <p:spPr>
          <a:xfrm>
            <a:off x="12732432" y="3670000"/>
            <a:ext cx="4176866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Reconciliation agent</a:t>
            </a:r>
          </a:p>
        </p:txBody>
      </p:sp>
      <p:sp>
        <p:nvSpPr>
          <p:cNvPr id="230" name="Layer 3 body"/>
          <p:cNvSpPr txBox="1"/>
          <p:nvPr/>
        </p:nvSpPr>
        <p:spPr>
          <a:xfrm>
            <a:off x="12732432" y="4350000"/>
            <a:ext cx="4176866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 with tools: searches, matches, and returns a decision, confidence and reasoning.</a:t>
            </a:r>
          </a:p>
        </p:txBody>
      </p:sp>
      <p:sp>
        <p:nvSpPr>
          <p:cNvPr id="231" name="Tools card"/>
          <p:cNvSpPr/>
          <p:nvPr/>
        </p:nvSpPr>
        <p:spPr>
          <a:xfrm>
            <a:off x="1028700" y="6050000"/>
            <a:ext cx="16230600" cy="195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32" name="Tools head"/>
          <p:cNvSpPr txBox="1"/>
          <p:nvPr/>
        </p:nvSpPr>
        <p:spPr>
          <a:xfrm>
            <a:off x="1378700" y="6250000"/>
            <a:ext cx="155306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Agent tools</a:t>
            </a:r>
            <a:r>
              <a:rPr lang="en-US" sz="20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   n8n AI Agent node</a:t>
            </a:r>
          </a:p>
        </p:txBody>
      </p:sp>
      <p:sp>
        <p:nvSpPr>
          <p:cNvPr id="233" name="Tool 1"/>
          <p:cNvSpPr/>
          <p:nvPr/>
        </p:nvSpPr>
        <p:spPr>
          <a:xfrm>
            <a:off x="1378700" y="6850000"/>
            <a:ext cx="2946120" cy="9000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wrap="square" lIns="90000" tIns="90000" rIns="90000" bIns="9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Bank-row search</a:t>
            </a:r>
          </a:p>
        </p:txBody>
      </p:sp>
      <p:sp>
        <p:nvSpPr>
          <p:cNvPr id="234" name="Tool 2"/>
          <p:cNvSpPr/>
          <p:nvPr/>
        </p:nvSpPr>
        <p:spPr>
          <a:xfrm>
            <a:off x="4524820" y="6850000"/>
            <a:ext cx="2946120" cy="9000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wrap="square" lIns="90000" tIns="90000" rIns="90000" bIns="9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Supplier history lookup</a:t>
            </a:r>
          </a:p>
        </p:txBody>
      </p:sp>
      <p:sp>
        <p:nvSpPr>
          <p:cNvPr id="235" name="Tool 3"/>
          <p:cNvSpPr/>
          <p:nvPr/>
        </p:nvSpPr>
        <p:spPr>
          <a:xfrm>
            <a:off x="7670940" y="6850000"/>
            <a:ext cx="2946120" cy="9000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wrap="square" lIns="90000" tIns="90000" rIns="90000" bIns="9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Invoice list lookup</a:t>
            </a:r>
          </a:p>
        </p:txBody>
      </p:sp>
      <p:sp>
        <p:nvSpPr>
          <p:cNvPr id="236" name="Tool 4"/>
          <p:cNvSpPr/>
          <p:nvPr/>
        </p:nvSpPr>
        <p:spPr>
          <a:xfrm>
            <a:off x="10817060" y="6850000"/>
            <a:ext cx="2946120" cy="9000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wrap="square" lIns="90000" tIns="90000" rIns="90000" bIns="9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Corrections memory</a:t>
            </a:r>
          </a:p>
        </p:txBody>
      </p:sp>
      <p:sp>
        <p:nvSpPr>
          <p:cNvPr id="237" name="Tool 5"/>
          <p:cNvSpPr/>
          <p:nvPr/>
        </p:nvSpPr>
        <p:spPr>
          <a:xfrm>
            <a:off x="13963180" y="6850000"/>
            <a:ext cx="2946120" cy="900000"/>
          </a:xfrm>
          <a:prstGeom prst="roundRect">
            <a:avLst>
              <a:gd name="adj" fmla="val 12000"/>
            </a:avLst>
          </a:prstGeom>
          <a:solidFill>
            <a:srgbClr val="E3F6F7"/>
          </a:solidFill>
          <a:ln>
            <a:noFill/>
          </a:ln>
        </p:spPr>
        <p:txBody>
          <a:bodyPr wrap="square" lIns="90000" tIns="90000" rIns="90000" bIns="9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Draft-email tool, approval-gated</a:t>
            </a:r>
          </a:p>
        </p:txBody>
      </p:sp>
      <p:sp>
        <p:nvSpPr>
          <p:cNvPr id="238" name="Routing card"/>
          <p:cNvSpPr/>
          <p:nvPr/>
        </p:nvSpPr>
        <p:spPr>
          <a:xfrm>
            <a:off x="1028700" y="8250000"/>
            <a:ext cx="10250000" cy="15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39" name="Routing head"/>
          <p:cNvSpPr txBox="1"/>
          <p:nvPr/>
        </p:nvSpPr>
        <p:spPr>
          <a:xfrm>
            <a:off x="1378700" y="8420000"/>
            <a:ext cx="955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Confidence routing</a:t>
            </a:r>
          </a:p>
        </p:txBody>
      </p:sp>
      <p:sp>
        <p:nvSpPr>
          <p:cNvPr id="240" name="Route 1"/>
          <p:cNvSpPr/>
          <p:nvPr/>
        </p:nvSpPr>
        <p:spPr>
          <a:xfrm>
            <a:off x="1378700" y="8930000"/>
            <a:ext cx="3063333" cy="650000"/>
          </a:xfrm>
          <a:prstGeom prst="roundRect">
            <a:avLst>
              <a:gd name="adj" fmla="val 14000"/>
            </a:avLst>
          </a:prstGeom>
          <a:solidFill>
            <a:srgbClr val="E3F6F7"/>
          </a:solidFill>
          <a:ln>
            <a:noFill/>
          </a:ln>
        </p:spPr>
        <p:txBody>
          <a:bodyPr wrap="square" lIns="70000" tIns="70000" rIns="70000" bIns="7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High: auto-resolve and log</a:t>
            </a:r>
          </a:p>
        </p:txBody>
      </p:sp>
      <p:sp>
        <p:nvSpPr>
          <p:cNvPr id="241" name="Route 2"/>
          <p:cNvSpPr/>
          <p:nvPr/>
        </p:nvSpPr>
        <p:spPr>
          <a:xfrm>
            <a:off x="4622033" y="8930000"/>
            <a:ext cx="3063333" cy="650000"/>
          </a:xfrm>
          <a:prstGeom prst="roundRect">
            <a:avLst>
              <a:gd name="adj" fmla="val 14000"/>
            </a:avLst>
          </a:prstGeom>
          <a:solidFill>
            <a:srgbClr val="E3F6F7"/>
          </a:solidFill>
          <a:ln>
            <a:noFill/>
          </a:ln>
        </p:spPr>
        <p:txBody>
          <a:bodyPr wrap="square" lIns="70000" tIns="70000" rIns="70000" bIns="7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Medium: one-tap approval</a:t>
            </a:r>
          </a:p>
        </p:txBody>
      </p:sp>
      <p:sp>
        <p:nvSpPr>
          <p:cNvPr id="242" name="Route 3"/>
          <p:cNvSpPr/>
          <p:nvPr/>
        </p:nvSpPr>
        <p:spPr>
          <a:xfrm>
            <a:off x="7865366" y="8930000"/>
            <a:ext cx="3063333" cy="650000"/>
          </a:xfrm>
          <a:prstGeom prst="roundRect">
            <a:avLst>
              <a:gd name="adj" fmla="val 14000"/>
            </a:avLst>
          </a:prstGeom>
          <a:solidFill>
            <a:srgbClr val="E3F6F7"/>
          </a:solidFill>
          <a:ln>
            <a:noFill/>
          </a:ln>
        </p:spPr>
        <p:txBody>
          <a:bodyPr wrap="square" lIns="70000" tIns="70000" rIns="70000" bIns="7000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Low: escalate with checks</a:t>
            </a:r>
          </a:p>
        </p:txBody>
      </p:sp>
      <p:sp>
        <p:nvSpPr>
          <p:cNvPr id="243" name="Stack card"/>
          <p:cNvSpPr/>
          <p:nvPr/>
        </p:nvSpPr>
        <p:spPr>
          <a:xfrm>
            <a:off x="11578700" y="8250000"/>
            <a:ext cx="5680600" cy="15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44" name="Stack head"/>
          <p:cNvSpPr txBox="1"/>
          <p:nvPr/>
        </p:nvSpPr>
        <p:spPr>
          <a:xfrm>
            <a:off x="11928700" y="8420000"/>
            <a:ext cx="4980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Tech stack</a:t>
            </a:r>
          </a:p>
        </p:txBody>
      </p:sp>
      <p:sp>
        <p:nvSpPr>
          <p:cNvPr id="245" name="Stack body"/>
          <p:cNvSpPr txBox="1"/>
          <p:nvPr/>
        </p:nvSpPr>
        <p:spPr>
          <a:xfrm>
            <a:off x="11928700" y="8930000"/>
            <a:ext cx="49806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n8n, LLM, Email, Telegram, Sheets and bank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427" l="-7180" r="-3000" t="-19076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5317038" y="-4518398"/>
            <a:ext cx="22188662" cy="18920878"/>
          </a:xfrm>
          <a:custGeom>
            <a:rect b="b" l="l" r="r" t="t"/>
            <a:pathLst>
              <a:path extrusionOk="0" h="18920878" w="22188662">
                <a:moveTo>
                  <a:pt x="0" y="0"/>
                </a:moveTo>
                <a:lnTo>
                  <a:pt x="22188663" y="0"/>
                </a:lnTo>
                <a:lnTo>
                  <a:pt x="22188663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028700" y="838200"/>
            <a:ext cx="16230600" cy="170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78" u="none" cap="none" strike="noStrike">
                <a:solidFill>
                  <a:srgbClr val="5DE0E6"/>
                </a:solidFill>
                <a:latin typeface="Times"/>
                <a:ea typeface="Times"/>
                <a:cs typeface="Times"/>
                <a:sym typeface="Times"/>
              </a:rPr>
              <a:t>Feasibility, Impact &amp; Audience</a:t>
            </a:r>
            <a:endParaRPr/>
          </a:p>
        </p:txBody>
      </p:sp>
      <p:sp>
        <p:nvSpPr>
          <p:cNvPr id="246" name="Feasibility card"/>
          <p:cNvSpPr/>
          <p:nvPr/>
        </p:nvSpPr>
        <p:spPr>
          <a:xfrm>
            <a:off x="1028700" y="2950000"/>
            <a:ext cx="5110200" cy="68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47" name="Col 1 number"/>
          <p:cNvSpPr/>
          <p:nvPr/>
        </p:nvSpPr>
        <p:spPr>
          <a:xfrm>
            <a:off x="1408700" y="3280000"/>
            <a:ext cx="700000" cy="70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248" name="Col 1 head"/>
          <p:cNvSpPr txBox="1"/>
          <p:nvPr/>
        </p:nvSpPr>
        <p:spPr>
          <a:xfrm>
            <a:off x="2278700" y="3280000"/>
            <a:ext cx="36102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Feasibility</a:t>
            </a:r>
          </a:p>
        </p:txBody>
      </p:sp>
      <p:sp>
        <p:nvSpPr>
          <p:cNvPr id="249" name="Feasibility body"/>
          <p:cNvSpPr txBox="1"/>
          <p:nvPr/>
        </p:nvSpPr>
        <p:spPr>
          <a:xfrm>
            <a:off x="1408700" y="4300000"/>
            <a:ext cx="43502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n8n AI Agent node: tools, memory and structured output in one workflow.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Narrow slice: email and Telegram intake, guardrails, agent, approval, audit log.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Hard limits: never moves money, files GST or sends email unapproved.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Failures retry, then escalate; unreadable invoices go to manual review.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Validated on 20 to 30 invoices with a hand-labeled key.</a:t>
            </a:r>
          </a:p>
        </p:txBody>
      </p:sp>
      <p:sp>
        <p:nvSpPr>
          <p:cNvPr id="250" name="Impact card"/>
          <p:cNvSpPr/>
          <p:nvPr/>
        </p:nvSpPr>
        <p:spPr>
          <a:xfrm>
            <a:off x="6588900" y="2950000"/>
            <a:ext cx="5110200" cy="68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51" name="Col 2 number"/>
          <p:cNvSpPr/>
          <p:nvPr/>
        </p:nvSpPr>
        <p:spPr>
          <a:xfrm>
            <a:off x="6968900" y="3280000"/>
            <a:ext cx="700000" cy="70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52" name="Col 2 head"/>
          <p:cNvSpPr txBox="1"/>
          <p:nvPr/>
        </p:nvSpPr>
        <p:spPr>
          <a:xfrm>
            <a:off x="7838900" y="3280000"/>
            <a:ext cx="36102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Market impact</a:t>
            </a:r>
          </a:p>
        </p:txBody>
      </p:sp>
      <p:sp>
        <p:nvSpPr>
          <p:cNvPr id="253" name="Impact body"/>
          <p:cNvSpPr txBox="1"/>
          <p:nvPr/>
        </p:nvSpPr>
        <p:spPr>
          <a:xfrm>
            <a:off x="6968900" y="4300000"/>
            <a:ext cx="43502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Duplicate payments caught before they go out.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Correct GST input claims through GSTIN and tax checks.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Fewer missed due dates and late fees.</a:t>
            </a: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B8A8F"/>
              </a:buClr>
              <a:buFont typeface="Arial"/>
              <a:buChar char="•"/>
            </a:pPr>
            <a:r>
              <a:rPr lang="en-US" sz="22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Accountant time moves from searching files to reviewing only escalations.</a:t>
            </a:r>
          </a:p>
        </p:txBody>
      </p:sp>
      <p:sp>
        <p:nvSpPr>
          <p:cNvPr id="254" name="Measured box"/>
          <p:cNvSpPr/>
          <p:nvPr/>
        </p:nvSpPr>
        <p:spPr>
          <a:xfrm>
            <a:off x="6968900" y="7900000"/>
            <a:ext cx="4350200" cy="1550000"/>
          </a:xfrm>
          <a:prstGeom prst="roundRect">
            <a:avLst>
              <a:gd name="adj" fmla="val 9000"/>
            </a:avLst>
          </a:prstGeom>
          <a:solidFill>
            <a:srgbClr val="E3F6F7"/>
          </a:solidFill>
          <a:ln>
            <a:noFill/>
          </a:ln>
        </p:spPr>
        <p:txBody>
          <a:bodyPr wrap="square" lIns="220000" tIns="220000" rIns="220000" bIns="22000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b="1" i="0" dirty="0">
                <a:solidFill>
                  <a:srgbClr val="0B8A8F"/>
                </a:solidFill>
                <a:latin typeface="Arial"/>
                <a:ea typeface="Arial"/>
                <a:cs typeface="Arial"/>
                <a:sym typeface="Arial"/>
              </a:rPr>
              <a:t>To be measured on the test set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Auto-resolution rate, accuracy, review time, duplicates caught.</a:t>
            </a:r>
          </a:p>
        </p:txBody>
      </p:sp>
      <p:sp>
        <p:nvSpPr>
          <p:cNvPr id="255" name="Audience card"/>
          <p:cNvSpPr/>
          <p:nvPr/>
        </p:nvSpPr>
        <p:spPr>
          <a:xfrm>
            <a:off x="12149100" y="2950000"/>
            <a:ext cx="5110200" cy="6800000"/>
          </a:xfrm>
          <a:prstGeom prst="roundRect">
            <a:avLst>
              <a:gd name="adj" fmla="val 7000"/>
            </a:avLst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190500" dist="38100" dir="5400000" algn="t" rotWithShape="0">
              <a:srgbClr val="0B3C5D">
                <a:alpha val="20000"/>
              </a:srgbClr>
            </a:outerShdw>
          </a:effectLst>
        </p:spPr>
      </p:sp>
      <p:sp>
        <p:nvSpPr>
          <p:cNvPr id="256" name="Col 3 number"/>
          <p:cNvSpPr/>
          <p:nvPr/>
        </p:nvSpPr>
        <p:spPr>
          <a:xfrm>
            <a:off x="12529100" y="3280000"/>
            <a:ext cx="700000" cy="700000"/>
          </a:xfrm>
          <a:prstGeom prst="ellipse">
            <a:avLst/>
          </a:prstGeom>
          <a:solidFill>
            <a:srgbClr val="0B8A8F"/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57" name="Col 3 head"/>
          <p:cNvSpPr txBox="1"/>
          <p:nvPr/>
        </p:nvSpPr>
        <p:spPr>
          <a:xfrm>
            <a:off x="13399100" y="3280000"/>
            <a:ext cx="36102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0B8A8F"/>
                </a:solidFill>
                <a:latin typeface="Times"/>
                <a:ea typeface="Times"/>
                <a:cs typeface="Times"/>
                <a:sym typeface="Times"/>
              </a:rPr>
              <a:t>Target audience</a:t>
            </a:r>
          </a:p>
        </p:txBody>
      </p:sp>
      <p:sp>
        <p:nvSpPr>
          <p:cNvPr id="258" name="Audience body"/>
          <p:cNvSpPr txBox="1"/>
          <p:nvPr/>
        </p:nvSpPr>
        <p:spPr>
          <a:xfrm>
            <a:off x="12529100" y="4300000"/>
            <a:ext cx="43502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Small traders and shops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No more month-end bank-statement hunts; fewer double payments and late fees.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CA offices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Staff review only the exceptions and can read and adjust the workflow without code.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Accountants and owners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100" b="0" i="0" dirty="0">
                <a:solidFill>
                  <a:srgbClr val="12354A"/>
                </a:solidFill>
                <a:latin typeface="Arial"/>
                <a:ea typeface="Arial"/>
                <a:cs typeface="Arial"/>
                <a:sym typeface="Arial"/>
              </a:rPr>
              <a:t>One-tap Telegram approval with a suggested answer and a written reasoning trace.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
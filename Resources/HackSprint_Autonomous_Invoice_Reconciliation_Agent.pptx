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PlayfairDisplaySemiBold-regular.fntdata"/><Relationship Id="rId14" Type="http://schemas.openxmlformats.org/officeDocument/2006/relationships/font" Target="fonts/PlayfairDisplaySemiBold-bold.fntdata"/><Relationship Id="rId15" Type="http://schemas.openxmlformats.org/officeDocument/2006/relationships/font" Target="fonts/PlayfairDisplaySemiBold-italic.fntdata"/><Relationship Id="rId16" Type="http://schemas.openxmlformats.org/officeDocument/2006/relationships/font" Target="fonts/PlayfairDisplaySemiBold-boldItalic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</a:t>
            </a: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298448" y="5504688"/>
            <a:ext cx="932688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6669"/>
                </a:solidFill>
                <a:latin typeface="Aptos"/>
              </a:rPr>
              <a:t>AUTONOMOUS INVOICE RECONCILIATION AGENT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98448" y="5925312"/>
            <a:ext cx="914400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B5B5D"/>
                </a:solidFill>
                <a:latin typeface="Aptos"/>
              </a:rPr>
              <a:t>AI-powered invoice-to-bank reconciliation with confidence-based human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051560" y="2496312"/>
            <a:ext cx="50749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16151" y="2606040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THE PROBLEM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16151" y="3017520"/>
            <a:ext cx="4745736" cy="125272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Supplier invoices arrive through email, Telegram or paper photos. Accountants manually enter data, verify GST details and search bank statements. Ambiguous matches create duplicate payments, missed dues and wasted time.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446520" y="2496312"/>
            <a:ext cx="50749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11112" y="2606040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THE SOLUTION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11112" y="3017520"/>
            <a:ext cx="4745736" cy="125272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An n8n AI Agent extracts invoice fields, applies rule-based guardrails, investigates bank rows and supplier history, then reconciles invoices using confidence-based routing.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51560" y="4663440"/>
            <a:ext cx="50749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16151" y="4773168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TARGET USERS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16151" y="5184648"/>
            <a:ext cx="4745736" cy="125272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t>Grounded User: Sri Krishna Electricals &amp; Hardware, Tiger Circle, Manipal (320 invoices/mo). Broader fit: small traders, retail shops, hardware distributors and CA offices.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446520" y="4663440"/>
            <a:ext cx="50749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11112" y="4773168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BENEFITS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611112" y="5184648"/>
            <a:ext cx="4745736" cy="125272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Less manual reconciliation • fewer duplicate/mismatched payments • faster review • explainable decisions • human approval only when confidence is not high.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51560" y="6885432"/>
            <a:ext cx="10469880" cy="384048"/>
          </a:xfrm>
          <a:prstGeom prst="roundRect">
            <a:avLst/>
          </a:prstGeom>
          <a:solidFill>
            <a:srgbClr val="00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24712" y="6912864"/>
            <a:ext cx="1032357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ONE-LINE PITCH  •  “An AI agent that reconciles supplier invoices against bank payments on its own, resolves ambiguous cases, and brings a human in only when it is not sure.”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34" name="Google Shape;134;p3"/>
          <p:cNvSpPr txBox="1"/>
          <p:nvPr/>
        </p:nvSpPr>
        <p:spPr>
          <a:xfrm>
            <a:off x="914400" y="749808"/>
            <a:ext cx="1481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1051560" y="2788920"/>
            <a:ext cx="2971800" cy="384048"/>
          </a:xfrm>
          <a:prstGeom prst="roundRect">
            <a:avLst/>
          </a:prstGeom>
          <a:solidFill>
            <a:srgbClr val="00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24712" y="2816352"/>
            <a:ext cx="282549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LAYER 1  •  INTAKE &amp; EXTRACTION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572000" y="2788920"/>
            <a:ext cx="2971800" cy="384048"/>
          </a:xfrm>
          <a:prstGeom prst="roundRect">
            <a:avLst/>
          </a:prstGeom>
          <a:solidFill>
            <a:srgbClr val="12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645152" y="2816352"/>
            <a:ext cx="282549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LAYER 2  •  GUARDRAILS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092440" y="2788920"/>
            <a:ext cx="3429000" cy="384048"/>
          </a:xfrm>
          <a:prstGeom prst="roundRect">
            <a:avLst/>
          </a:prstGeom>
          <a:solidFill>
            <a:srgbClr val="00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165592" y="2816352"/>
            <a:ext cx="328269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LAYER 3  •  RECONCILIATION AGENT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51560" y="3429000"/>
            <a:ext cx="13716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43000" y="3538728"/>
            <a:ext cx="11887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Email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43000" y="3904488"/>
            <a:ext cx="1188720" cy="4297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Invoice trigger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606040" y="3429000"/>
            <a:ext cx="13716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697480" y="3538728"/>
            <a:ext cx="11887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Telegram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697480" y="3904488"/>
            <a:ext cx="1188720" cy="4297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Invoice trigger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251960" y="3429000"/>
            <a:ext cx="29718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343400" y="3538728"/>
            <a:ext cx="2788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LLM Extraction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43400" y="3904488"/>
            <a:ext cx="2788920" cy="4297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Supplier • Invoice No • GSTIN • Date • Amount • Tax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572000" y="4864608"/>
            <a:ext cx="1325880" cy="932688"/>
          </a:xfrm>
          <a:prstGeom prst="roundRect">
            <a:avLst/>
          </a:prstGeom>
          <a:solidFill>
            <a:srgbClr val="E5F7F7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663440" y="4974336"/>
            <a:ext cx="11430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GSTIN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63440" y="5340096"/>
            <a:ext cx="1143000" cy="40233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Format check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035040" y="4864608"/>
            <a:ext cx="1325880" cy="932688"/>
          </a:xfrm>
          <a:prstGeom prst="roundRect">
            <a:avLst/>
          </a:prstGeom>
          <a:solidFill>
            <a:srgbClr val="E5F7F7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126479" y="4974336"/>
            <a:ext cx="11430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Tax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26479" y="5340096"/>
            <a:ext cx="1143000" cy="40233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Arithmetic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498079" y="4864608"/>
            <a:ext cx="1325880" cy="932688"/>
          </a:xfrm>
          <a:prstGeom prst="roundRect">
            <a:avLst/>
          </a:prstGeom>
          <a:solidFill>
            <a:srgbClr val="E5F7F7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589519" y="4974336"/>
            <a:ext cx="11430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Duplicate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589519" y="5340096"/>
            <a:ext cx="1143000" cy="40233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Exact match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229600" y="6126480"/>
            <a:ext cx="160020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321040" y="6236208"/>
            <a:ext cx="14173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Bank Search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21040" y="6601968"/>
            <a:ext cx="1417320" cy="49377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Amount • date • narration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0012680" y="6126480"/>
            <a:ext cx="160020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104119" y="6236208"/>
            <a:ext cx="14173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Supplier History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04119" y="6601968"/>
            <a:ext cx="1417320" cy="49377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Past invoices • variants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229600" y="7424928"/>
            <a:ext cx="160020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321040" y="7534656"/>
            <a:ext cx="14173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Invoice List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321040" y="7900416"/>
            <a:ext cx="1417320" cy="49377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Open / split payments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012680" y="7424928"/>
            <a:ext cx="160020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104119" y="7534656"/>
            <a:ext cx="14173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Corrections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04119" y="7900416"/>
            <a:ext cx="1417320" cy="49377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Past human decisions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2423160" y="3904488"/>
            <a:ext cx="1801368" cy="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023360" y="3904488"/>
            <a:ext cx="502920" cy="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5760720" y="4407408"/>
            <a:ext cx="0" cy="420624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183879" y="5330952"/>
            <a:ext cx="45721" cy="722376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034272" y="6126480"/>
            <a:ext cx="978408" cy="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034272" y="7040880"/>
            <a:ext cx="0" cy="347472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08208" y="7040880"/>
            <a:ext cx="0" cy="347472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051560" y="8732520"/>
            <a:ext cx="1056132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r>
              <a:t>Structured Output → decision + matched txns + confidence + reasoning trace + Prometheus metrics + SQLite WAL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41" name="TextBox 140"/>
          <p:cNvSpPr txBox="1"/>
          <p:nvPr/>
        </p:nvSpPr>
        <p:spPr>
          <a:xfrm>
            <a:off x="1024128" y="841248"/>
            <a:ext cx="6400800" cy="10972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5DE0E6"/>
                </a:solidFill>
                <a:latin typeface="Times"/>
              </a:rPr>
              <a:t>Feasibility &amp; Market Impact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51560" y="2148840"/>
            <a:ext cx="33375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16151" y="2258568"/>
            <a:ext cx="300837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TECHNICAL FEASIBILITY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16151" y="2670048"/>
            <a:ext cx="3008376" cy="134416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n8n connects email, Telegram, LLMs, Sheets and bank files. The AI Agent supports tools, memory and structured output. Rule-based guardrails keep deterministic checks outside the model.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17720" y="2148840"/>
            <a:ext cx="33375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82312" y="2258568"/>
            <a:ext cx="300837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OPERATIONAL FEASIBILITY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82312" y="2670048"/>
            <a:ext cx="3008376" cy="134416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Accountants remain in control. High-confidence cases can auto-resolve; medium-confidence cases request one-tap approval; low-confidence cases are escalated with the checks performed.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183879" y="2148840"/>
            <a:ext cx="33375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48471" y="2258568"/>
            <a:ext cx="300837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ECONOMIC FEASIBILITY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48471" y="2670048"/>
            <a:ext cx="3008376" cy="134416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The narrow MVP targets a repetitive monthly workflow. Value comes from reducing manual review, preventing duplicate payments and avoiding time spent investigating ambiguous bank narrations.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51560" y="4462272"/>
            <a:ext cx="5074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16151" y="4572000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MARKET IMPACT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16151" y="4983480"/>
            <a:ext cx="4745736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Primary market: small businesses and CA/bookkeeping offices that process recurring supplier invoices. The same workflow can scale across multiple suppliers and businesses without changing the core reconciliation logic.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46520" y="4462272"/>
            <a:ext cx="5074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611112" y="4572000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MEASURABLE BUSINESS BENEFITS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11112" y="4983480"/>
            <a:ext cx="4745736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t>Measured Benchmark (25 Invoices, Manipal): 56.0% Auto-Resolution (14/25 zero-touch) • 100.0% Accuracy on auto-resolved cases • 86.0% Accountant Time Reduction (75 min → 10.5 min review) • 3 Guardrail Catches (1 duplicate, 1 bad GSTIN, 1 tax math) • 12.9 hrs/mo saved.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51560" y="6876288"/>
            <a:ext cx="10469880" cy="384048"/>
          </a:xfrm>
          <a:prstGeom prst="roundRect">
            <a:avLst/>
          </a:prstGeom>
          <a:solidFill>
            <a:srgbClr val="12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24712" y="6903720"/>
            <a:ext cx="1032357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SCALABLE ROADMAP  •  WhatsApp intake  •  Tally integration  •  due-date prioritization  •  payment-order suggestions  •  multi-business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914400" y="749808"/>
            <a:ext cx="1481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051560" y="3355848"/>
            <a:ext cx="14173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43000" y="3465576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Invoice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43000" y="3831336"/>
            <a:ext cx="123444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Email / Telegram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788920" y="3355848"/>
            <a:ext cx="15544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880360" y="3465576"/>
            <a:ext cx="13716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LLM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880360" y="3831336"/>
            <a:ext cx="137160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Extract JSON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709160" y="3355848"/>
            <a:ext cx="16459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800600" y="3465576"/>
            <a:ext cx="14630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Guardrails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00600" y="3831336"/>
            <a:ext cx="146304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GST • Tax • Duplicate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720840" y="3355848"/>
            <a:ext cx="16459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12279" y="3465576"/>
            <a:ext cx="14630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AI Agent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812279" y="3831336"/>
            <a:ext cx="146304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Investigate + reason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732520" y="2807208"/>
            <a:ext cx="1737360" cy="868680"/>
          </a:xfrm>
          <a:prstGeom prst="roundRect">
            <a:avLst/>
          </a:prstGeom>
          <a:solidFill>
            <a:srgbClr val="E5F7F7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823960" y="2916936"/>
            <a:ext cx="15544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HIGH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823960" y="3282696"/>
            <a:ext cx="155448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Auto-resolve + log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732520" y="3968496"/>
            <a:ext cx="1737360" cy="868680"/>
          </a:xfrm>
          <a:prstGeom prst="roundRect">
            <a:avLst/>
          </a:prstGeom>
          <a:solidFill>
            <a:srgbClr val="E5F7F7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823960" y="4078224"/>
            <a:ext cx="15544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MEDIUM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823960" y="4443984"/>
            <a:ext cx="155448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Telegram approval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732520" y="5129784"/>
            <a:ext cx="1737360" cy="868680"/>
          </a:xfrm>
          <a:prstGeom prst="roundRect">
            <a:avLst/>
          </a:prstGeom>
          <a:solidFill>
            <a:srgbClr val="E5F7F7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823960" y="5239512"/>
            <a:ext cx="15544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6669"/>
                </a:solidFill>
                <a:latin typeface="Aptos"/>
              </a:rPr>
              <a:t>LOW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823960" y="5605272"/>
            <a:ext cx="1554480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B5D"/>
                </a:solidFill>
                <a:latin typeface="Aptos"/>
              </a:rPr>
              <a:t>Escalate to human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2468880" y="3785616"/>
            <a:ext cx="274320" cy="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4343400" y="3785616"/>
            <a:ext cx="320040" cy="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355080" y="3785616"/>
            <a:ext cx="320040" cy="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366760" y="3236976"/>
            <a:ext cx="320040" cy="347472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366760" y="3813048"/>
            <a:ext cx="320040" cy="576071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366760" y="4041648"/>
            <a:ext cx="320040" cy="1508760"/>
          </a:xfrm>
          <a:prstGeom prst="line">
            <a:avLst/>
          </a:prstGeom>
          <a:ln w="2540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1051560" y="6464808"/>
            <a:ext cx="941832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6669"/>
                </a:solidFill>
                <a:latin typeface="Aptos"/>
              </a:rPr>
              <a:t>Agent tools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51560" y="6967728"/>
            <a:ext cx="10469880" cy="9144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B5B5D"/>
                </a:solidFill>
                <a:latin typeface="Aptos"/>
              </a:rPr>
              <a:t>Bank-row search  •  Supplier history lookup  •  Invoice list lookup  •  Corrections memory  •  Draft-email tool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51560" y="8202168"/>
            <a:ext cx="10469880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2363A"/>
                </a:solidFill>
                <a:latin typeface="Aptos"/>
              </a:rPr>
              <a:t>Safety boundary: the agent never moves money, never files GST, and never sends external email without approval. Every action is logged.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4" name="Google Shape;154;p6"/>
          <p:cNvSpPr txBox="1"/>
          <p:nvPr/>
        </p:nvSpPr>
        <p:spPr>
          <a:xfrm>
            <a:off x="1024128" y="786384"/>
            <a:ext cx="1389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0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51560" y="2057400"/>
            <a:ext cx="1046988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6669"/>
                </a:solidFill>
                <a:latin typeface="Aptos"/>
              </a:rPr>
              <a:t>Prototype / Demo View  •  representative n8n execution flow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51560" y="2697480"/>
            <a:ext cx="10469880" cy="4297680"/>
          </a:xfrm>
          <a:prstGeom prst="roundRect">
            <a:avLst/>
          </a:prstGeom>
          <a:solidFill>
            <a:srgbClr val="182225"/>
          </a:solidFill>
          <a:ln w="1778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298448" y="2889504"/>
            <a:ext cx="22860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invoice-reconciliation-agent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325880" y="352044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371600" y="359359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EMAIL / TELEGRAM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71600" y="386791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trigger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154680" y="352044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200400" y="359359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LLM EXTRACT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200400" y="386791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structured JSON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983480" y="352044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29200" y="359359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GUARDRAILS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029200" y="386791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GST • tax • duplicate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812280" y="352044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58000" y="359359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AI AGENT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58000" y="386791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tool calls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641080" y="315468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686800" y="322783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686800" y="350215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auto-resolve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641080" y="416052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686800" y="423367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86800" y="450799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approval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641080" y="5166360"/>
            <a:ext cx="1508760" cy="749808"/>
          </a:xfrm>
          <a:prstGeom prst="roundRect">
            <a:avLst/>
          </a:prstGeom>
          <a:solidFill>
            <a:srgbClr val="243438"/>
          </a:solidFill>
          <a:ln w="1270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686800" y="523951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686800" y="5513832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E9EA"/>
                </a:solidFill>
                <a:latin typeface="Aptos"/>
              </a:rPr>
              <a:t>escalate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2834640" y="3895344"/>
            <a:ext cx="274320" cy="0"/>
          </a:xfrm>
          <a:prstGeom prst="line">
            <a:avLst/>
          </a:prstGeom>
          <a:ln w="1905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663440" y="3895344"/>
            <a:ext cx="274320" cy="0"/>
          </a:xfrm>
          <a:prstGeom prst="line">
            <a:avLst/>
          </a:prstGeom>
          <a:ln w="1905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492240" y="3895344"/>
            <a:ext cx="274320" cy="0"/>
          </a:xfrm>
          <a:prstGeom prst="line">
            <a:avLst/>
          </a:prstGeom>
          <a:ln w="1905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8321040" y="3529584"/>
            <a:ext cx="274320" cy="128016"/>
          </a:xfrm>
          <a:prstGeom prst="line">
            <a:avLst/>
          </a:prstGeom>
          <a:ln w="1905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8321040" y="3886200"/>
            <a:ext cx="274320" cy="649224"/>
          </a:xfrm>
          <a:prstGeom prst="line">
            <a:avLst/>
          </a:prstGeom>
          <a:ln w="1905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321040" y="4114800"/>
            <a:ext cx="274320" cy="1426464"/>
          </a:xfrm>
          <a:prstGeom prst="line">
            <a:avLst/>
          </a:prstGeom>
          <a:ln w="19050">
            <a:solidFill>
              <a:srgbClr val="5D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5880" y="6309360"/>
            <a:ext cx="996696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t>Verified Benchmark Execution: 25 real-world invoices processed with multi-step reasoning trace, tool calls, and Telegram approval.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051560" y="7360920"/>
            <a:ext cx="10469880" cy="384048"/>
          </a:xfrm>
          <a:prstGeom prst="roundRect">
            <a:avLst/>
          </a:prstGeom>
          <a:solidFill>
            <a:srgbClr val="12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124712" y="7388352"/>
            <a:ext cx="1032357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t>ENTERPRISE SYSTEM &amp; OBSERVABILITY • FastAPI Backend Engine (Port 8000) • Prometheus /metrics OpenTelemetry Scrape • 100% SLA Compliance (&lt;100ms) • Full Operations Console at http://127.0.0.1:8000/console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3" name="Rounded Rectangle 162"/>
          <p:cNvSpPr/>
          <p:nvPr/>
        </p:nvSpPr>
        <p:spPr>
          <a:xfrm>
            <a:off x="1051560" y="2057400"/>
            <a:ext cx="32461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16151" y="2167128"/>
            <a:ext cx="29169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TARGET AUDIENCE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16151" y="2578608"/>
            <a:ext cx="2916936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Small traders • shops • hardware businesses • CA offices • bookkeeping teams. Best fit: businesses with recurring supplier invoices and manual bank reconciliation.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53712" y="2057400"/>
            <a:ext cx="32461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2167128"/>
            <a:ext cx="29169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USER BENEFITS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718304" y="2578608"/>
            <a:ext cx="2916936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Accountants: less repetitive checking. Owners: fewer payment errors and better visibility. CA teams: faster exception handling with an audit trail.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055864" y="2057400"/>
            <a:ext cx="3465576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220456" y="2167128"/>
            <a:ext cx="3136392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TRUST &amp; SAFETY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220456" y="2578608"/>
            <a:ext cx="3136392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Blurry invoices, invalid output, API failures and uncertain decisions are escalated. No money movement, GST filing or unapproved external email.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51560" y="4343400"/>
            <a:ext cx="5074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16151" y="4453128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WHAT MAKES IT DIFFERENT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216151" y="4864608"/>
            <a:ext cx="4745736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Not just OCR or fixed rules: the agent investigates ambiguous cases across bank data, supplier history and open invoices, then explains its decision.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446520" y="4343400"/>
            <a:ext cx="5074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611112" y="4453128"/>
            <a:ext cx="4745736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669"/>
                </a:solidFill>
                <a:latin typeface="Aptos"/>
              </a:rPr>
              <a:t>ROADMAP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611112" y="4864608"/>
            <a:ext cx="4745736" cy="1389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B5B5D"/>
                </a:solidFill>
                <a:latin typeface="Aptos"/>
              </a:rPr>
              <a:t>Persistent learning from corrections • WhatsApp intake • Direct Tally integration • due-date prioritization • payment-order suggestions • multi-business support.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51560" y="6812280"/>
            <a:ext cx="10469880" cy="384048"/>
          </a:xfrm>
          <a:prstGeom prst="roundRect">
            <a:avLst/>
          </a:prstGeom>
          <a:solidFill>
            <a:srgbClr val="00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24712" y="6839712"/>
            <a:ext cx="10323576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FINAL MESSAGE  •  Automate the routine. Explain the ambiguous. Keep the human in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